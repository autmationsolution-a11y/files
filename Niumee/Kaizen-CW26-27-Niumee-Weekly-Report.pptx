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4"/>
    <p:sldMasterId id="2147483712" r:id="rId5"/>
  </p:sldMasterIdLst>
  <p:notesMasterIdLst>
    <p:notesMasterId r:id="rId7"/>
  </p:notesMasterIdLst>
  <p:handoutMasterIdLst>
    <p:handoutMasterId r:id="rId8"/>
  </p:handoutMasterIdLst>
  <p:sldIdLst>
    <p:sldId id="2147479672" r:id="rId6"/>
  </p:sldIdLst>
  <p:sldSz cx="12192000" cy="6858000"/>
  <p:notesSz cx="9926638" cy="143557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E21400-7C17-4B06-9AD8-F5EF45CAB885}" name="Arthur Dubbeldam" initials="AD" userId="S::adubbeldam@kaizen.com::f3e2b4da-5313-4155-a952-be592f3ef9ef" providerId="AD"/>
  <p188:author id="{94B8D71D-8E67-B87E-069F-F5D571D7E3BA}" name="Jim Barendse" initials="JB" userId="S::jbarendse@kaizen.com::1eea37d9-34c4-49ab-aa35-d6130167a0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B388"/>
    <a:srgbClr val="FF0000"/>
    <a:srgbClr val="E4F4EE"/>
    <a:srgbClr val="FDD087"/>
    <a:srgbClr val="E4E4E4"/>
    <a:srgbClr val="00B0F0"/>
    <a:srgbClr val="92D050"/>
    <a:srgbClr val="00B0E0"/>
    <a:srgbClr val="BEC7C5"/>
    <a:srgbClr val="155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8C05C-2043-4DDD-B859-CF281CF3D8B8}" v="4" dt="2026-06-22T10:39:27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 autoAdjust="0"/>
    <p:restoredTop sz="94737"/>
  </p:normalViewPr>
  <p:slideViewPr>
    <p:cSldViewPr snapToGrid="0">
      <p:cViewPr varScale="1">
        <p:scale>
          <a:sx n="78" d="100"/>
          <a:sy n="78" d="100"/>
        </p:scale>
        <p:origin x="9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33" d="100"/>
          <a:sy n="33" d="100"/>
        </p:scale>
        <p:origin x="2768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1ED178-929A-0CD6-A517-41F8215848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AB4E5-34AC-69F4-5C5F-E07C4FAE77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F9D96-6151-46D4-A9F0-7F9433D3C9C5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015E6-BB03-0626-1A71-86B4DE934D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58B13-2708-E6A5-3C4B-387C952B30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A616A-8F02-4555-94CF-ECEF7FE9A1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100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910A3-0FDD-4F96-ABFC-796A9AFA8F45}" type="datetimeFigureOut">
              <a:rPr lang="pt-PT" smtClean="0"/>
              <a:t>22/06/2026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7225" y="1793875"/>
            <a:ext cx="861218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6908800"/>
            <a:ext cx="7942262" cy="56530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25" y="13636625"/>
            <a:ext cx="4302125" cy="719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C743F-8C81-4AD4-B823-DF3C9E9D1E7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124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04509E-9C19-CB48-91DB-97F6322F2D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67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12.tiff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C03604A-AB62-4100-8F61-08A74CB7E9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7152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C03604A-AB62-4100-8F61-08A74CB7E9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459" y="356738"/>
            <a:ext cx="10600560" cy="591219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defRPr sz="3200">
                <a:solidFill>
                  <a:srgbClr val="003C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963" y="1285339"/>
            <a:ext cx="10590056" cy="4891624"/>
          </a:xfrm>
          <a:prstGeom prst="rect">
            <a:avLst/>
          </a:prstGeom>
        </p:spPr>
        <p:txBody>
          <a:bodyPr/>
          <a:lstStyle>
            <a:lvl1pPr marL="171450" indent="-171450">
              <a:buFontTx/>
              <a:buBlip>
                <a:blip r:embed="rId5"/>
              </a:buBlip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Tx/>
              <a:buBlip>
                <a:blip r:embed="rId6"/>
              </a:buBlip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buFontTx/>
              <a:buBlip>
                <a:blip r:embed="rId5"/>
              </a:buBlip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buFontTx/>
              <a:buBlip>
                <a:blip r:embed="rId6"/>
              </a:buBlip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buFontTx/>
              <a:buBlip>
                <a:blip r:embed="rId5"/>
              </a:buBlip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7535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rgbClr val="003C79"/>
                </a:solidFill>
                <a:latin typeface="Myriad Pro" panose="020B0503030403020204" pitchFamily="34" charset="0"/>
              </a:defRPr>
            </a:lvl1pPr>
          </a:lstStyle>
          <a:p>
            <a:fld id="{7E3C18B4-DE4F-D443-97D0-18EAB0E1014C}" type="datetime3">
              <a:rPr lang="en-US" smtClean="0"/>
              <a:pPr/>
              <a:t>22 June 2026</a:t>
            </a:fld>
            <a:endParaRPr lang="en-US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97409" y="6375359"/>
            <a:ext cx="309660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Myriad Pro" panose="020B0503030403020204" pitchFamily="34" charset="0"/>
                <a:cs typeface="Arial"/>
              </a:defRPr>
            </a:lvl1pPr>
          </a:lstStyle>
          <a:p>
            <a:fld id="{47017D58-9BC5-4F57-A1BC-C055626EE8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225666-34D6-482F-9437-3566C04B735A}"/>
              </a:ext>
            </a:extLst>
          </p:cNvPr>
          <p:cNvCxnSpPr>
            <a:cxnSpLocks/>
          </p:cNvCxnSpPr>
          <p:nvPr userDrawn="1"/>
        </p:nvCxnSpPr>
        <p:spPr>
          <a:xfrm>
            <a:off x="0" y="6300592"/>
            <a:ext cx="1096264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53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75359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rgbClr val="003C79"/>
                </a:solidFill>
                <a:latin typeface="Myriad Pro" panose="020B0503030403020204" pitchFamily="34" charset="0"/>
              </a:defRPr>
            </a:lvl1pPr>
          </a:lstStyle>
          <a:p>
            <a:fld id="{1314BC35-B8E4-9146-8E56-8F62D6327D11}" type="datetime3">
              <a:rPr lang="en-US" smtClean="0"/>
              <a:pPr/>
              <a:t>22 June 2026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97409" y="6375359"/>
            <a:ext cx="309660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Myriad Pro" panose="020B0503030403020204" pitchFamily="34" charset="0"/>
                <a:cs typeface="Arial"/>
              </a:defRPr>
            </a:lvl1pPr>
          </a:lstStyle>
          <a:p>
            <a:fld id="{47017D58-9BC5-4F57-A1BC-C055626EE84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17889" y="6306238"/>
            <a:ext cx="105676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12619" y="60288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809526" y="1808705"/>
            <a:ext cx="10572949" cy="207492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br>
              <a:rPr lang="en-US" sz="3600"/>
            </a:br>
            <a:endParaRPr lang="en-US" sz="3600"/>
          </a:p>
          <a:p>
            <a:pPr algn="ctr"/>
            <a:r>
              <a:rPr lang="en-US" sz="3600">
                <a:solidFill>
                  <a:srgbClr val="003C79"/>
                </a:solidFill>
              </a:rPr>
              <a:t>Thank You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3298" y="2062875"/>
            <a:ext cx="1205404" cy="88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2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45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D43DCB-3123-364C-B008-880CCB7FC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701800"/>
            <a:ext cx="3632200" cy="515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7FA0BB-C9FC-4F1F-BD7B-376D2EDB6E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69012" y="462245"/>
            <a:ext cx="14986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13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833DA9-5A0D-1548-AAB0-1B2D3400C0AF}"/>
              </a:ext>
            </a:extLst>
          </p:cNvPr>
          <p:cNvCxnSpPr>
            <a:cxnSpLocks/>
          </p:cNvCxnSpPr>
          <p:nvPr userDrawn="1"/>
        </p:nvCxnSpPr>
        <p:spPr>
          <a:xfrm>
            <a:off x="0" y="6300592"/>
            <a:ext cx="1096264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7EE063A-669A-384F-B20B-9B704EFFB965}"/>
              </a:ext>
            </a:extLst>
          </p:cNvPr>
          <p:cNvSpPr txBox="1"/>
          <p:nvPr userDrawn="1"/>
        </p:nvSpPr>
        <p:spPr>
          <a:xfrm>
            <a:off x="636218" y="6462576"/>
            <a:ext cx="74122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Footnote Here – Arial Text Size 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94E93-85EA-DB42-958C-2FFCBDFD68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626" y="5902624"/>
            <a:ext cx="497010" cy="65706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49432-C1E3-A74B-A850-8BCDD08E0A8A}"/>
              </a:ext>
            </a:extLst>
          </p:cNvPr>
          <p:cNvCxnSpPr>
            <a:cxnSpLocks/>
          </p:cNvCxnSpPr>
          <p:nvPr userDrawn="1"/>
        </p:nvCxnSpPr>
        <p:spPr>
          <a:xfrm>
            <a:off x="0" y="966592"/>
            <a:ext cx="12192000" cy="0"/>
          </a:xfrm>
          <a:prstGeom prst="line">
            <a:avLst/>
          </a:prstGeom>
          <a:ln w="3175">
            <a:solidFill>
              <a:srgbClr val="045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0C04A48-E14D-47F4-ABAF-AF5CFDE30EB7}"/>
              </a:ext>
            </a:extLst>
          </p:cNvPr>
          <p:cNvSpPr/>
          <p:nvPr userDrawn="1"/>
        </p:nvSpPr>
        <p:spPr>
          <a:xfrm>
            <a:off x="724395" y="5509928"/>
            <a:ext cx="3051959" cy="178130"/>
          </a:xfrm>
          <a:prstGeom prst="rect">
            <a:avLst/>
          </a:prstGeom>
          <a:solidFill>
            <a:srgbClr val="045B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577E95-21D5-48A3-84D5-38380DE6B6F1}"/>
              </a:ext>
            </a:extLst>
          </p:cNvPr>
          <p:cNvSpPr/>
          <p:nvPr userDrawn="1"/>
        </p:nvSpPr>
        <p:spPr>
          <a:xfrm>
            <a:off x="4558145" y="5509928"/>
            <a:ext cx="3051959" cy="178130"/>
          </a:xfrm>
          <a:prstGeom prst="rect">
            <a:avLst/>
          </a:prstGeom>
          <a:solidFill>
            <a:srgbClr val="045B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21E40-1847-49E2-B9F6-D680F5907F69}"/>
              </a:ext>
            </a:extLst>
          </p:cNvPr>
          <p:cNvSpPr/>
          <p:nvPr userDrawn="1"/>
        </p:nvSpPr>
        <p:spPr>
          <a:xfrm>
            <a:off x="8336478" y="5509928"/>
            <a:ext cx="3051959" cy="178130"/>
          </a:xfrm>
          <a:prstGeom prst="rect">
            <a:avLst/>
          </a:prstGeom>
          <a:solidFill>
            <a:srgbClr val="045B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45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D43DCB-3123-364C-B008-880CCB7FC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701800"/>
            <a:ext cx="3632200" cy="5156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1C9445-7E2A-404A-B241-D2332F0A3D2A}"/>
              </a:ext>
            </a:extLst>
          </p:cNvPr>
          <p:cNvSpPr txBox="1"/>
          <p:nvPr userDrawn="1"/>
        </p:nvSpPr>
        <p:spPr>
          <a:xfrm>
            <a:off x="2389861" y="2982724"/>
            <a:ext cx="74122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5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7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95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01ECF9B7-E3FD-4A59-B810-F119718B3A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9837" y="1"/>
            <a:ext cx="3912164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AC7430B-2BC0-4368-AA33-A343F830E6CD}"/>
              </a:ext>
            </a:extLst>
          </p:cNvPr>
          <p:cNvSpPr txBox="1"/>
          <p:nvPr userDrawn="1"/>
        </p:nvSpPr>
        <p:spPr>
          <a:xfrm>
            <a:off x="10876403" y="6325054"/>
            <a:ext cx="42639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200" b="0" noProof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© DSS</a:t>
            </a:r>
            <a:endParaRPr lang="en-GB" sz="1200" b="0" i="0" noProof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3" name="Picture 22" descr="A picture containing logo&#10;&#10;Description automatically generated">
            <a:extLst>
              <a:ext uri="{FF2B5EF4-FFF2-40B4-BE49-F238E27FC236}">
                <a16:creationId xmlns:a16="http://schemas.microsoft.com/office/drawing/2014/main" id="{09427E67-8220-AC1B-2455-35CD4E55B8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997" y="6162802"/>
            <a:ext cx="1580748" cy="50917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E0DD2E0-B25B-E8C7-E161-093C8E5C5B44}"/>
              </a:ext>
            </a:extLst>
          </p:cNvPr>
          <p:cNvSpPr txBox="1">
            <a:spLocks/>
          </p:cNvSpPr>
          <p:nvPr userDrawn="1"/>
        </p:nvSpPr>
        <p:spPr>
          <a:xfrm>
            <a:off x="371475" y="474047"/>
            <a:ext cx="11449050" cy="430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58779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rgbClr val="045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9C67787-5B33-6A47-9B8F-857A7758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922" y="2592336"/>
            <a:ext cx="7486216" cy="784623"/>
          </a:xfrm>
        </p:spPr>
        <p:txBody>
          <a:bodyPr>
            <a:noAutofit/>
          </a:bodyPr>
          <a:lstStyle>
            <a:lvl1pPr>
              <a:defRPr sz="5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D43DCB-3123-364C-B008-880CCB7FC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01800"/>
            <a:ext cx="3632200" cy="515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7FA0BB-C9FC-4F1F-BD7B-376D2EDB6E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9012" y="462245"/>
            <a:ext cx="1498600" cy="1549400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81CEE7BE-51A8-4146-A18B-14869F879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5922" y="3376959"/>
            <a:ext cx="7486216" cy="78462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1ABAFA1-2A49-F948-B6AF-00024BB07E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5922" y="4174461"/>
            <a:ext cx="6061077" cy="566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82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5BD06F-35DD-A945-83A1-F95569E47745}"/>
              </a:ext>
            </a:extLst>
          </p:cNvPr>
          <p:cNvCxnSpPr>
            <a:cxnSpLocks/>
          </p:cNvCxnSpPr>
          <p:nvPr userDrawn="1"/>
        </p:nvCxnSpPr>
        <p:spPr>
          <a:xfrm>
            <a:off x="0" y="966592"/>
            <a:ext cx="12192000" cy="0"/>
          </a:xfrm>
          <a:prstGeom prst="line">
            <a:avLst/>
          </a:prstGeom>
          <a:ln w="3175">
            <a:solidFill>
              <a:srgbClr val="045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2AD824-808E-954C-AB81-99117C5D5918}"/>
              </a:ext>
            </a:extLst>
          </p:cNvPr>
          <p:cNvCxnSpPr>
            <a:cxnSpLocks/>
          </p:cNvCxnSpPr>
          <p:nvPr userDrawn="1"/>
        </p:nvCxnSpPr>
        <p:spPr>
          <a:xfrm>
            <a:off x="0" y="6300592"/>
            <a:ext cx="1096264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7C89822B-CBB7-904D-B128-991A4061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626" y="5902624"/>
            <a:ext cx="497010" cy="657065"/>
          </a:xfrm>
          <a:prstGeom prst="rect">
            <a:avLst/>
          </a:prstGeom>
        </p:spPr>
      </p:pic>
      <p:sp>
        <p:nvSpPr>
          <p:cNvPr id="41" name="Title 7">
            <a:extLst>
              <a:ext uri="{FF2B5EF4-FFF2-40B4-BE49-F238E27FC236}">
                <a16:creationId xmlns:a16="http://schemas.microsoft.com/office/drawing/2014/main" id="{9D3AA322-F79C-A847-B37F-47842ECA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97" y="216823"/>
            <a:ext cx="10515600" cy="657066"/>
          </a:xfrm>
        </p:spPr>
        <p:txBody>
          <a:bodyPr>
            <a:normAutofit/>
          </a:bodyPr>
          <a:lstStyle>
            <a:lvl1pPr>
              <a:defRPr sz="3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Footer Placeholder 19">
            <a:extLst>
              <a:ext uri="{FF2B5EF4-FFF2-40B4-BE49-F238E27FC236}">
                <a16:creationId xmlns:a16="http://schemas.microsoft.com/office/drawing/2014/main" id="{E4AFDAB0-C255-524F-8E31-27078F38D2B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36217" y="6417038"/>
            <a:ext cx="10541180" cy="365125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18592FC2-5EE4-3E4A-9502-AD244AC8820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56735" y="2241586"/>
            <a:ext cx="4196971" cy="461666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60AD815C-0FF5-8C47-92A0-95B6E753B6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6735" y="3162373"/>
            <a:ext cx="4250531" cy="233089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20000"/>
              </a:lnSpc>
              <a:spcBef>
                <a:spcPts val="2200"/>
              </a:spcBef>
              <a:defRPr>
                <a:solidFill>
                  <a:srgbClr val="929292"/>
                </a:solidFill>
              </a:defRPr>
            </a:pPr>
            <a:r>
              <a:rPr lang="en-US" b="1">
                <a:latin typeface="Arial" panose="020B0604020202020204" pitchFamily="34" charset="0"/>
                <a:ea typeface="OpenSans-Bold"/>
                <a:cs typeface="Arial" panose="020B0604020202020204" pitchFamily="34" charset="0"/>
                <a:sym typeface="OpenSans-Bold"/>
              </a:rPr>
              <a:t>Lorem Ipsum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is simply dummy text of the printing and typesetting industry. Lorem Ipsum has been the industry's standard dummy text ever since the 1500s, when an unknown printer took a galley of type and scrambled it to make a type specimen book. It has survived not only five centuries,</a:t>
            </a:r>
          </a:p>
        </p:txBody>
      </p:sp>
      <p:sp>
        <p:nvSpPr>
          <p:cNvPr id="32" name="Chart Placeholder 2">
            <a:extLst>
              <a:ext uri="{FF2B5EF4-FFF2-40B4-BE49-F238E27FC236}">
                <a16:creationId xmlns:a16="http://schemas.microsoft.com/office/drawing/2014/main" id="{11FC7D0A-D4AD-FB42-9B97-B5BBB837A86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752997" y="2225091"/>
            <a:ext cx="5424400" cy="326817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7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999" y="313126"/>
            <a:ext cx="9720000" cy="384721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dirty="0"/>
            </a:lvl1pPr>
          </a:lstStyle>
          <a:p>
            <a:r>
              <a:rPr lang="en-US" noProof="0"/>
              <a:t>Headline title 25 pt.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789423"/>
            <a:ext cx="9720000" cy="345600"/>
          </a:xfrm>
        </p:spPr>
        <p:txBody>
          <a:bodyPr>
            <a:noAutofit/>
          </a:bodyPr>
          <a:lstStyle>
            <a:lvl1pPr>
              <a:lnSpc>
                <a:spcPts val="2550"/>
              </a:lnSpc>
              <a:defRPr sz="1800" b="0"/>
            </a:lvl1pPr>
            <a:lvl2pPr>
              <a:lnSpc>
                <a:spcPts val="2550"/>
              </a:lnSpc>
              <a:defRPr sz="1800" b="0"/>
            </a:lvl2pPr>
            <a:lvl3pPr>
              <a:lnSpc>
                <a:spcPts val="2550"/>
              </a:lnSpc>
              <a:defRPr sz="1800" b="0"/>
            </a:lvl3pPr>
            <a:lvl4pPr>
              <a:lnSpc>
                <a:spcPts val="2550"/>
              </a:lnSpc>
              <a:defRPr sz="1800" b="0"/>
            </a:lvl4pPr>
            <a:lvl5pPr>
              <a:lnSpc>
                <a:spcPts val="2550"/>
              </a:lnSpc>
              <a:defRPr sz="1800" b="0"/>
            </a:lvl5pPr>
          </a:lstStyle>
          <a:p>
            <a:pPr lvl="0"/>
            <a:r>
              <a:rPr lang="en-US" noProof="0"/>
              <a:t>Subheadline title 18 pt.</a:t>
            </a:r>
          </a:p>
        </p:txBody>
      </p:sp>
    </p:spTree>
    <p:extLst>
      <p:ext uri="{BB962C8B-B14F-4D97-AF65-F5344CB8AC3E}">
        <p14:creationId xmlns:p14="http://schemas.microsoft.com/office/powerpoint/2010/main" val="376479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045B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9C67787-5B33-6A47-9B8F-857A7758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922" y="2592336"/>
            <a:ext cx="7486216" cy="784623"/>
          </a:xfrm>
        </p:spPr>
        <p:txBody>
          <a:bodyPr>
            <a:noAutofit/>
          </a:bodyPr>
          <a:lstStyle>
            <a:lvl1pPr>
              <a:defRPr sz="5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D43DCB-3123-364C-B008-880CCB7FC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701800"/>
            <a:ext cx="3632200" cy="515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7FA0BB-C9FC-4F1F-BD7B-376D2EDB6E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69012" y="462245"/>
            <a:ext cx="1498600" cy="1549400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81CEE7BE-51A8-4146-A18B-14869F879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5922" y="3376959"/>
            <a:ext cx="7486216" cy="78462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1ABAFA1-2A49-F948-B6AF-00024BB07E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5922" y="4174461"/>
            <a:ext cx="6061077" cy="566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1207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49432-C1E3-A74B-A850-8BCDD08E0A8A}"/>
              </a:ext>
            </a:extLst>
          </p:cNvPr>
          <p:cNvCxnSpPr>
            <a:cxnSpLocks/>
          </p:cNvCxnSpPr>
          <p:nvPr userDrawn="1"/>
        </p:nvCxnSpPr>
        <p:spPr>
          <a:xfrm>
            <a:off x="0" y="966592"/>
            <a:ext cx="12192000" cy="0"/>
          </a:xfrm>
          <a:prstGeom prst="line">
            <a:avLst/>
          </a:prstGeom>
          <a:ln w="3175">
            <a:solidFill>
              <a:srgbClr val="045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C9470E32-9F48-594F-A4E4-F10C2F20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97" y="216823"/>
            <a:ext cx="10515600" cy="657066"/>
          </a:xfrm>
        </p:spPr>
        <p:txBody>
          <a:bodyPr>
            <a:normAutofit/>
          </a:bodyPr>
          <a:lstStyle>
            <a:lvl1pPr>
              <a:defRPr sz="3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0C865E3D-3E46-C34D-9A2E-CA3964C2D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17" y="1289724"/>
            <a:ext cx="10528479" cy="461666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56AC57B-857B-994D-AA9F-D0CD6A0845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9097" y="2048763"/>
            <a:ext cx="10528300" cy="3881437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niumee - Online Booking - Services">
            <a:extLst>
              <a:ext uri="{FF2B5EF4-FFF2-40B4-BE49-F238E27FC236}">
                <a16:creationId xmlns:a16="http://schemas.microsoft.com/office/drawing/2014/main" id="{AB34F6DA-6381-A022-F437-A0674CF948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2727" y="6345382"/>
            <a:ext cx="1179816" cy="3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2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007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4643"/>
            <a:ext cx="10515600" cy="670626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293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F79133-6EA8-4BE8-AB4F-C3A7457A70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F79133-6EA8-4BE8-AB4F-C3A7457A7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49097" y="216823"/>
            <a:ext cx="10515600" cy="657066"/>
          </a:xfrm>
        </p:spPr>
        <p:txBody>
          <a:bodyPr vert="horz" anchor="ctr">
            <a:noAutofit/>
          </a:bodyPr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41BCE1-E338-4B20-B952-D240893F465F}"/>
              </a:ext>
            </a:extLst>
          </p:cNvPr>
          <p:cNvCxnSpPr>
            <a:cxnSpLocks/>
          </p:cNvCxnSpPr>
          <p:nvPr userDrawn="1"/>
        </p:nvCxnSpPr>
        <p:spPr>
          <a:xfrm>
            <a:off x="0" y="6300592"/>
            <a:ext cx="1096264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E06F30B-64EA-448A-A45A-D01E3F4AB2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626" y="5902624"/>
            <a:ext cx="497010" cy="6570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B49813-2484-4FBC-A59F-FD6C235F897D}"/>
              </a:ext>
            </a:extLst>
          </p:cNvPr>
          <p:cNvCxnSpPr>
            <a:cxnSpLocks/>
          </p:cNvCxnSpPr>
          <p:nvPr userDrawn="1"/>
        </p:nvCxnSpPr>
        <p:spPr>
          <a:xfrm>
            <a:off x="0" y="966592"/>
            <a:ext cx="12192000" cy="0"/>
          </a:xfrm>
          <a:prstGeom prst="line">
            <a:avLst/>
          </a:prstGeom>
          <a:ln w="3175">
            <a:solidFill>
              <a:srgbClr val="045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73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2D988F3-54AD-45BD-BA7E-B3338F5A03C9}"/>
              </a:ext>
            </a:extLst>
          </p:cNvPr>
          <p:cNvGraphicFramePr>
            <a:graphicFrameLocks noChangeAspect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812080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92" imgH="591" progId="TCLayout.ActiveDocument.1">
                  <p:embed/>
                </p:oleObj>
              </mc:Choice>
              <mc:Fallback>
                <p:oleObj name="think-cell Slide" r:id="rId1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2D988F3-54AD-45BD-BA7E-B3338F5A0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niumee - Online Booking - Services">
            <a:extLst>
              <a:ext uri="{FF2B5EF4-FFF2-40B4-BE49-F238E27FC236}">
                <a16:creationId xmlns:a16="http://schemas.microsoft.com/office/drawing/2014/main" id="{020A788C-5CDC-5E9E-D79C-76AF1B8DB2F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852727" y="6345382"/>
            <a:ext cx="1179816" cy="3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7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9" r:id="rId10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9143B-C3CA-3740-ABE9-E5DA235D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79A92-05D1-CE4A-B39D-BBEFB77C4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4170-E8E0-184B-B667-555EDC25F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5CDCF-51AA-A14F-870D-09707C0527F8}" type="datetimeFigureOut">
              <a:rPr lang="en-QA" smtClean="0"/>
              <a:t>06/22/2026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C74BB-BBB1-5F49-8208-F025A3301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A57F-6F8E-4845-B273-B81E9A725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1A1AB-6DBA-144E-B857-8BF939878A1D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30289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Q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05DF3F16-723E-6CE9-E061-C9085001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Elbow Connector 3">
            <a:extLst>
              <a:ext uri="{FF2B5EF4-FFF2-40B4-BE49-F238E27FC236}">
                <a16:creationId id="{1809716F-4821-ECE0-E827-D738677F49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220" y="1180952"/>
            <a:ext cx="5942222" cy="2469086"/>
          </a:xfrm>
          <a:prstGeom prst="bentConnector3">
            <a:avLst>
              <a:gd name="adj1" fmla="val 574"/>
            </a:avLst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4">
            <a:extLst>
              <a:ext uri="{FF2B5EF4-FFF2-40B4-BE49-F238E27FC236}">
                <a16:creationId id="{2B2E5A79-E76B-FC76-3F58-26AB44FF009E}"/>
              </a:ext>
            </a:extLst>
          </p:cNvPr>
          <p:cNvCxnSpPr>
            <a:cxnSpLocks/>
          </p:cNvCxnSpPr>
          <p:nvPr/>
        </p:nvCxnSpPr>
        <p:spPr>
          <a:xfrm>
            <a:off x="88761" y="3824454"/>
            <a:ext cx="5878316" cy="2429548"/>
          </a:xfrm>
          <a:prstGeom prst="bentConnector2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5">
            <a:extLst>
              <a:ext uri="{FF2B5EF4-FFF2-40B4-BE49-F238E27FC236}">
                <a16:creationId id="{54DA21C2-3733-CF69-2D3F-0C86B9346513}"/>
              </a:ext>
            </a:extLst>
          </p:cNvPr>
          <p:cNvCxnSpPr>
            <a:cxnSpLocks/>
          </p:cNvCxnSpPr>
          <p:nvPr/>
        </p:nvCxnSpPr>
        <p:spPr>
          <a:xfrm rot="16200000">
            <a:off x="7928943" y="2107513"/>
            <a:ext cx="2429548" cy="5878316"/>
          </a:xfrm>
          <a:prstGeom prst="bentConnector2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6">
            <a:extLst>
              <a:ext uri="{FF2B5EF4-FFF2-40B4-BE49-F238E27FC236}">
                <a16:creationId id="{6DF24CB8-0394-67DC-14CB-CAC096061859}"/>
              </a:ext>
            </a:extLst>
          </p:cNvPr>
          <p:cNvCxnSpPr>
            <a:cxnSpLocks/>
          </p:cNvCxnSpPr>
          <p:nvPr/>
        </p:nvCxnSpPr>
        <p:spPr>
          <a:xfrm rot="10800000">
            <a:off x="6204559" y="1170684"/>
            <a:ext cx="5871464" cy="2479358"/>
          </a:xfrm>
          <a:prstGeom prst="bentConnector3">
            <a:avLst>
              <a:gd name="adj1" fmla="val 99299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id="{0CABAB4B-7066-1240-F9C0-2C066F9C67C3}"/>
              </a:ext>
            </a:extLst>
          </p:cNvPr>
          <p:cNvSpPr txBox="1"/>
          <p:nvPr/>
        </p:nvSpPr>
        <p:spPr>
          <a:xfrm>
            <a:off x="0" y="3890888"/>
            <a:ext cx="584876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EC7C5"/>
                </a:solidFill>
                <a:effectLst/>
                <a:uLnTx/>
                <a:uFillTx/>
                <a:latin typeface="Avenir Book" panose="02000503020000020003"/>
                <a:ea typeface="+mn-ea"/>
                <a:cs typeface="+mn-cs"/>
              </a:rPr>
              <a:t>KEY ACHIEVEMENTS (Top Deliverables)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id="{FC6334EE-99C6-7F61-FCAB-90C3EC8EDFA3}"/>
              </a:ext>
            </a:extLst>
          </p:cNvPr>
          <p:cNvSpPr txBox="1"/>
          <p:nvPr/>
        </p:nvSpPr>
        <p:spPr>
          <a:xfrm>
            <a:off x="6342964" y="3890888"/>
            <a:ext cx="39514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E0"/>
                </a:solidFill>
                <a:effectLst/>
                <a:uLnTx/>
                <a:uFillTx/>
                <a:latin typeface="Avenir Book" panose="02000503020000020003"/>
                <a:ea typeface="+mn-ea"/>
                <a:cs typeface="+mn-cs"/>
              </a:rPr>
              <a:t>DECISIONS &amp; SUPPORT NEEDED</a:t>
            </a:r>
          </a:p>
        </p:txBody>
      </p:sp>
      <p:sp>
        <p:nvSpPr>
          <p:cNvPr id="43" name="TextBox 42">
            <a:extLst>
              <a:ext uri="{FF2B5EF4-FFF2-40B4-BE49-F238E27FC236}">
                <a16:creationId id="{79AC8BF8-3035-35C4-0B6C-B4940FFBC9A5}"/>
              </a:ext>
            </a:extLst>
          </p:cNvPr>
          <p:cNvSpPr txBox="1"/>
          <p:nvPr/>
        </p:nvSpPr>
        <p:spPr>
          <a:xfrm>
            <a:off x="6341572" y="1052052"/>
            <a:ext cx="39528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DD087"/>
                </a:solidFill>
                <a:effectLst/>
                <a:uLnTx/>
                <a:uFillTx/>
                <a:latin typeface="Avenir Book" panose="02000503020000020003"/>
                <a:ea typeface="+mn-ea"/>
                <a:cs typeface="+mn-cs"/>
              </a:rPr>
              <a:t>NEXT STEPS (Top Deliverables)</a:t>
            </a:r>
          </a:p>
        </p:txBody>
      </p:sp>
      <p:sp>
        <p:nvSpPr>
          <p:cNvPr id="45" name="TextBox 44">
            <a:extLst>
              <a:ext uri="{FF2B5EF4-FFF2-40B4-BE49-F238E27FC236}">
                <a16:creationId id="{D4B29DE0-6B29-A18E-86D1-2D01E46911C6}"/>
              </a:ext>
            </a:extLst>
          </p:cNvPr>
          <p:cNvSpPr txBox="1"/>
          <p:nvPr/>
        </p:nvSpPr>
        <p:spPr>
          <a:xfrm>
            <a:off x="6341572" y="1367463"/>
            <a:ext cx="5741303" cy="10567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Implement re-booking reminder rules into the automation (rules document received, build ready)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Wire SOP knowledge base into the live bot - 57 treatments extracted, RAG system ready to deploy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Run Clarissa's 18-question regression test; fix staff assignments via Zenoti Employees API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Hand off AI Search Visibility pack to website/backend team: treatment page content, schema markup, citation fixes</a:t>
            </a:r>
          </a:p>
        </p:txBody>
      </p:sp>
      <p:sp>
        <p:nvSpPr>
          <p:cNvPr id="48" name="TextBox 47">
            <a:extLst>
              <a:ext uri="{FF2B5EF4-FFF2-40B4-BE49-F238E27FC236}">
                <a16:creationId id="{6DD38826-2CF6-6923-FA83-E82C081502AB}"/>
              </a:ext>
            </a:extLst>
          </p:cNvPr>
          <p:cNvSpPr txBox="1"/>
          <p:nvPr/>
        </p:nvSpPr>
        <p:spPr>
          <a:xfrm>
            <a:off x="107458" y="4194096"/>
            <a:ext cx="5741303" cy="12721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SOP updated + Donna's reminder rules received (June 30) - re-booking cadence per service now defined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Phone system API live - real-time missed-call tracker with Zenoti name resolution, TEST recovery active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KPI dashboard rebuilt: 90-day revenue by category + 4 weekly trend charts; load time 90s -&gt; 16s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16B2A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AI Search Visibility plan complete - treatment page template, schema checklist + citation audit ready to hand off to website team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id="{DA9F7E19-E888-D5DF-26BC-473C5D571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685307960"/>
              </p:ext>
            </p:extLst>
          </p:nvPr>
        </p:nvGraphicFramePr>
        <p:xfrm>
          <a:off x="104056" y="1343260"/>
          <a:ext cx="5760000" cy="2208765"/>
        </p:xfrm>
        <a:graphic>
          <a:graphicData uri="http://schemas.openxmlformats.org/drawingml/2006/table">
            <a:tbl>
              <a:tblPr/>
              <a:tblGrid>
                <a:gridCol w="1944000">
                  <a:extLst>
                    <a:ext uri="{9D8B030D-6E8A-4147-A177-3AD203B41FA5}">
                      <a16:colId val="564610169"/>
                    </a:ext>
                  </a:extLst>
                </a:gridCol>
                <a:gridCol w="648000">
                  <a:extLst>
                    <a:ext uri="{9D8B030D-6E8A-4147-A177-3AD203B41FA5}">
                      <a16:colId val="1550515085"/>
                    </a:ext>
                  </a:extLst>
                </a:gridCol>
                <a:gridCol w="648000">
                  <a:extLst>
                    <a:ext uri="{9D8B030D-6E8A-4147-A177-3AD203B41FA5}">
                      <a16:colId val="3895088107"/>
                    </a:ext>
                  </a:extLst>
                </a:gridCol>
                <a:gridCol w="2520000">
                  <a:extLst>
                    <a:ext uri="{9D8B030D-6E8A-4147-A177-3AD203B41FA5}">
                      <a16:colId val="3718039592"/>
                    </a:ext>
                  </a:extLst>
                </a:gridCol>
              </a:tblGrid>
              <a:tr h="222883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105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INITIATIVES</a:t>
                      </a:r>
                    </a:p>
                  </a:txBody>
                  <a:tcPr marL="72000" marR="3466" marT="3466" marB="0" anchor="ctr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5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PROGRESS</a:t>
                      </a:r>
                    </a:p>
                  </a:txBody>
                  <a:tcPr marL="3466" marR="3466" marT="3466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5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RISK</a:t>
                      </a:r>
                    </a:p>
                  </a:txBody>
                  <a:tcPr marL="3466" marR="3466" marT="3466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5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REMARKS</a:t>
                      </a:r>
                    </a:p>
                  </a:txBody>
                  <a:tcPr marL="3466" marR="3466" marT="3466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val="1552105855"/>
                  </a:ext>
                </a:extLst>
              </a:tr>
              <a:tr h="352544">
                <a:tc>
                  <a:txBody>
                    <a:bodyPr/>
                    <a:lstStyle/>
                    <a:p>
                      <a:pPr marL="108000" algn="l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Daily Kaizen</a:t>
                      </a:r>
                    </a:p>
                  </a:txBody>
                  <a:tcPr marL="0" marR="3466" marT="3466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pt-PT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66" marR="3466" marT="3466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3466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PT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KPI dashboard live - weekly and 90-day revenue views</a:t>
                      </a:r>
                    </a:p>
                  </a:txBody>
                  <a:tcPr marL="72000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162000386"/>
                  </a:ext>
                </a:extLst>
              </a:tr>
              <a:tr h="435500">
                <a:tc>
                  <a:txBody>
                    <a:bodyPr/>
                    <a:lstStyle/>
                    <a:p>
                      <a:pPr marL="108000" marR="0" lvl="0" indent="0" algn="l" defTabSz="9143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Confirmation and Reminders Automation</a:t>
                      </a:r>
                    </a:p>
                  </a:txBody>
                  <a:tcPr marL="0" marR="3466" marT="3466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pt-PT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66" marR="3466" marT="3466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3466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PT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Live; reminder rules received from Donna, integration next</a:t>
                      </a:r>
                    </a:p>
                  </a:txBody>
                  <a:tcPr marL="72000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486269896"/>
                  </a:ext>
                </a:extLst>
              </a:tr>
              <a:tr h="422647">
                <a:tc>
                  <a:txBody>
                    <a:bodyPr/>
                    <a:lstStyle/>
                    <a:p>
                      <a:pPr marL="108000" marR="0" lvl="0" indent="0" algn="l" defTabSz="9143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Missed Calls and Voicemail Recovery</a:t>
                      </a:r>
                    </a:p>
                  </a:txBody>
                  <a:tcPr marL="0" marR="3466" marT="3466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pt-PT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66" marR="3466" marT="3466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3466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PT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 API live; tracker in TEST mode, go-live pending</a:t>
                      </a:r>
                    </a:p>
                  </a:txBody>
                  <a:tcPr marL="72000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680514862"/>
                  </a:ext>
                </a:extLst>
              </a:tr>
              <a:tr h="422647">
                <a:tc>
                  <a:txBody>
                    <a:bodyPr/>
                    <a:lstStyle/>
                    <a:p>
                      <a:pPr marL="108000" marR="0" lvl="0" indent="0" algn="l" defTabSz="9143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Chatbot for Website and WhatsApp</a:t>
                      </a:r>
                    </a:p>
                  </a:txBody>
                  <a:tcPr marL="0" marR="3466" marT="3466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pt-PT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66" marR="3466" marT="3466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3466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PT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SOP KB built (57 treatments); RAG integration next step</a:t>
                      </a:r>
                    </a:p>
                  </a:txBody>
                  <a:tcPr marL="72000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282560817"/>
                  </a:ext>
                </a:extLst>
              </a:tr>
              <a:tr h="352544">
                <a:tc>
                  <a:txBody>
                    <a:bodyPr/>
                    <a:lstStyle/>
                    <a:p>
                      <a:pPr marL="108000" marR="0" lvl="0" indent="0" algn="l" defTabSz="91435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 Phone receptionist</a:t>
                      </a:r>
                    </a:p>
                  </a:txBody>
                  <a:tcPr marL="0" marR="3466" marT="3466" marB="0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pt-PT" sz="105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66" marR="3466" marT="3466" marB="0"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3466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pt-PT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hold; chatbot accuracy prioritised first</a:t>
                      </a:r>
                    </a:p>
                  </a:txBody>
                  <a:tcPr marL="72000" marR="3466" marT="346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A00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val="2664192366"/>
                  </a:ext>
                </a:extLst>
              </a:tr>
            </a:tbl>
          </a:graphicData>
        </a:graphic>
      </p:graphicFrame>
      <p:sp>
        <p:nvSpPr>
          <p:cNvPr id="2" name="Rectangle 3">
            <a:extLst>
              <a:ext uri="{FF2B5EF4-FFF2-40B4-BE49-F238E27FC236}">
                <a16:creationId id="{AF898600-35C3-1959-0AD5-8845992C4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61" y="252810"/>
            <a:ext cx="12014477" cy="38628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042988">
              <a:lnSpc>
                <a:spcPct val="90000"/>
              </a:lnSpc>
            </a:pPr>
            <a:r>
              <a:rPr lang="en-US" sz="24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Weekly Report: </a:t>
            </a:r>
            <a:r>
              <a:rPr lang="en-US" sz="2400" dirty="0" err="1">
                <a:solidFill>
                  <a:schemeClr val="tx2"/>
                </a:solidFill>
                <a:latin typeface="Avenir Next LT Pro" panose="020B0504020202020204" pitchFamily="34" charset="0"/>
              </a:rPr>
              <a:t>Niumee</a:t>
            </a:r>
            <a:endParaRPr lang="en-US" sz="2400" dirty="0">
              <a:solidFill>
                <a:schemeClr val="tx2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id="{5550D39E-6E5F-7206-4EDA-6E7FA743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61" y="673076"/>
            <a:ext cx="2880000" cy="23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042988">
              <a:lnSpc>
                <a:spcPct val="90000"/>
              </a:lnSpc>
            </a:pPr>
            <a:r>
              <a:rPr lang="en-US" sz="1400" b="1" dirty="0">
                <a:solidFill>
                  <a:schemeClr val="bg2"/>
                </a:solidFill>
                <a:latin typeface="Avenir Next LT Pro" panose="020B0504020202020204" pitchFamily="34" charset="0"/>
              </a:rPr>
              <a:t>Project Leader: </a:t>
            </a:r>
            <a:r>
              <a:rPr lang="en-US" sz="14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Avenir Next LT Pro" panose="020B0504020202020204" pitchFamily="34" charset="0"/>
              </a:rPr>
              <a:t>Donna</a:t>
            </a:r>
          </a:p>
        </p:txBody>
      </p:sp>
      <p:sp>
        <p:nvSpPr>
          <p:cNvPr id="8" name="Rectangle 7">
            <a:extLst>
              <a:ext uri="{FF2B5EF4-FFF2-40B4-BE49-F238E27FC236}">
                <a16:creationId id="{E6F01AC7-C313-DEE4-9BF4-77207EF4F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7940" y="673075"/>
            <a:ext cx="3127239" cy="26719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042988">
              <a:lnSpc>
                <a:spcPct val="90000"/>
              </a:lnSpc>
            </a:pPr>
            <a:r>
              <a:rPr lang="en-US" sz="1400" b="1" dirty="0">
                <a:solidFill>
                  <a:schemeClr val="bg2"/>
                </a:solidFill>
                <a:latin typeface="Avenir Next LT Pro" panose="020B0504020202020204" pitchFamily="34" charset="0"/>
              </a:rPr>
              <a:t>Kaizen Team: </a:t>
            </a:r>
            <a:r>
              <a:rPr lang="en-US" sz="14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Avenir Next LT Pro" panose="020B0504020202020204" pitchFamily="34" charset="0"/>
              </a:rPr>
              <a:t>Andras, Younes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id="{743F98F2-E8A7-CC16-B475-AD6BE824B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296" y="673076"/>
            <a:ext cx="2880000" cy="23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042988">
              <a:lnSpc>
                <a:spcPct val="90000"/>
              </a:lnSpc>
            </a:pPr>
            <a:r>
              <a:rPr lang="en-US" sz="1400" b="1" dirty="0">
                <a:solidFill>
                  <a:schemeClr val="bg2"/>
                </a:solidFill>
                <a:latin typeface="Avenir Next LT Pro" panose="020B0504020202020204" pitchFamily="34" charset="0"/>
              </a:rPr>
              <a:t>Week: </a:t>
            </a:r>
            <a:r>
              <a:rPr lang="en-US" sz="14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Avenir Next LT Pro" panose="020B0504020202020204" pitchFamily="34" charset="0"/>
              </a:rPr>
              <a:t>2026.26-27</a:t>
            </a:r>
          </a:p>
        </p:txBody>
      </p:sp>
      <p:sp>
        <p:nvSpPr>
          <p:cNvPr id="10" name="TextBox 9">
            <a:extLst>
              <a:ext uri="{FF2B5EF4-FFF2-40B4-BE49-F238E27FC236}">
                <a16:creationId id="{79516F09-0937-4225-F56D-5A1E85B293B5}"/>
              </a:ext>
            </a:extLst>
          </p:cNvPr>
          <p:cNvSpPr txBox="1"/>
          <p:nvPr/>
        </p:nvSpPr>
        <p:spPr>
          <a:xfrm>
            <a:off x="1" y="1052052"/>
            <a:ext cx="312724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916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ROADMAP MILESTONES &amp;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id="{10475E78-A401-89E3-8D56-BB782E413312}"/>
              </a:ext>
            </a:extLst>
          </p:cNvPr>
          <p:cNvSpPr txBox="1"/>
          <p:nvPr/>
        </p:nvSpPr>
        <p:spPr>
          <a:xfrm>
            <a:off x="6273065" y="4194096"/>
            <a:ext cx="5741303" cy="5745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E0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Go-ahead needed to deploy SOP knowledge base into the live WhatsApp bot (production change)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E0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Confirm re-booking reminder message text per service before activating automated sends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E0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Confirm phone recovery WhatsApp message wording for go-live (currently TEST mode only)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0E0"/>
              </a:buClr>
              <a:buSzTx/>
              <a:buFont typeface="Wingdings" panose="05000000000000000000" pitchFamily="2" charset="2"/>
              <a:buChar char="S"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Avenir Book" panose="02000503020000020003"/>
              </a:rPr>
              <a:t>Confirm website team contact to receive AI Search Visibility implementation pack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id="{092F6795-5CC3-D6CA-3384-7ECD50A33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8503" y="673076"/>
            <a:ext cx="2880000" cy="23322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042988">
              <a:lnSpc>
                <a:spcPct val="90000"/>
              </a:lnSpc>
            </a:pPr>
            <a:r>
              <a:rPr lang="en-US" sz="1400" b="1" dirty="0">
                <a:solidFill>
                  <a:schemeClr val="bg2"/>
                </a:solidFill>
                <a:latin typeface="Avenir Next LT Pro" panose="020B0504020202020204" pitchFamily="34" charset="0"/>
              </a:rPr>
              <a:t>Project Sponsor: </a:t>
            </a:r>
            <a:r>
              <a:rPr lang="en-US" sz="14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Avenir Next LT Pro" panose="020B0504020202020204" pitchFamily="34" charset="0"/>
              </a:rPr>
              <a:t>Maria</a:t>
            </a:r>
          </a:p>
        </p:txBody>
      </p:sp>
    </p:spTree>
    <p:extLst>
      <p:ext uri="{BB962C8B-B14F-4D97-AF65-F5344CB8AC3E}">
        <p14:creationId val="7048256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QP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Myriad Pro Light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P" id="{B6E56B4B-D393-46BB-8D36-F94511714A1B}" vid="{07BBE38A-DDE3-4B8D-8884-3DA2289A79CA}"/>
    </a:ext>
  </a:extLst>
</a:theme>
</file>

<file path=ppt/theme/theme2.xml><?xml version="1.0" encoding="utf-8"?>
<a:theme xmlns:a="http://schemas.openxmlformats.org/drawingml/2006/main" name="2_QatarEnergy PPT Theme 1">
  <a:themeElements>
    <a:clrScheme name="QatarEnergy">
      <a:dk1>
        <a:srgbClr val="000000"/>
      </a:dk1>
      <a:lt1>
        <a:srgbClr val="FFFFFF"/>
      </a:lt1>
      <a:dk2>
        <a:srgbClr val="155199"/>
      </a:dk2>
      <a:lt2>
        <a:srgbClr val="44B388"/>
      </a:lt2>
      <a:accent1>
        <a:srgbClr val="916B2A"/>
      </a:accent1>
      <a:accent2>
        <a:srgbClr val="FDD087"/>
      </a:accent2>
      <a:accent3>
        <a:srgbClr val="00B0E0"/>
      </a:accent3>
      <a:accent4>
        <a:srgbClr val="BEC7C5"/>
      </a:accent4>
      <a:accent5>
        <a:srgbClr val="FFD100"/>
      </a:accent5>
      <a:accent6>
        <a:srgbClr val="B65433"/>
      </a:accent6>
      <a:hlink>
        <a:srgbClr val="0563C1"/>
      </a:hlink>
      <a:folHlink>
        <a:srgbClr val="592C8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83325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5373" tIns="25373" rIns="25373" bIns="25373" numCol="1" spcCol="38100" rtlCol="0" anchor="ctr">
        <a:spAutoFit/>
      </a:bodyPr>
      <a:lstStyle>
        <a:defPPr marL="0" marR="0" indent="0" algn="ctr" defTabSz="41275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8575" cap="flat">
          <a:solidFill>
            <a:srgbClr val="BBC6C3"/>
          </a:solidFill>
          <a:prstDash val="solid"/>
          <a:miter lim="400000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</a:spPr>
      <a:bodyPr wrap="square">
        <a:spAutoFit/>
      </a:bodyPr>
      <a:lstStyle>
        <a:defPPr algn="l">
          <a:defRPr sz="1200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QatarEnergy PPT Theme 1" id="{4EE16DB9-FACB-4A6E-80E3-F36C9BE5BB05}" vid="{E7F29D6E-360A-4D42-B888-B147293D6D4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DF7A57F0CBE144B8C0EF326EEA8DDC" ma:contentTypeVersion="10" ma:contentTypeDescription="Create a new document." ma:contentTypeScope="" ma:versionID="e8ef7f13488f3d60445223f0d71cfbc7">
  <xsd:schema xmlns:xsd="http://www.w3.org/2001/XMLSchema" xmlns:xs="http://www.w3.org/2001/XMLSchema" xmlns:p="http://schemas.microsoft.com/office/2006/metadata/properties" xmlns:ns2="6dff0990-7e98-442a-a764-7f410fb0428b" xmlns:ns3="2da5a124-5fc9-4ad9-aba3-bf44ca5f387b" targetNamespace="http://schemas.microsoft.com/office/2006/metadata/properties" ma:root="true" ma:fieldsID="c50e1d8b334d95a916718420db72bb27" ns2:_="" ns3:_="">
    <xsd:import namespace="6dff0990-7e98-442a-a764-7f410fb0428b"/>
    <xsd:import namespace="2da5a124-5fc9-4ad9-aba3-bf44ca5f38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f0990-7e98-442a-a764-7f410fb04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d9fc560-982e-4af8-9937-989d27489c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a5a124-5fc9-4ad9-aba3-bf44ca5f387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aebc03-af2d-4bd5-93c5-8dccfcccac66}" ma:internalName="TaxCatchAll" ma:showField="CatchAllData" ma:web="2da5a124-5fc9-4ad9-aba3-bf44ca5f38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ff0990-7e98-442a-a764-7f410fb0428b">
      <Terms xmlns="http://schemas.microsoft.com/office/infopath/2007/PartnerControls"/>
    </lcf76f155ced4ddcb4097134ff3c332f>
    <TaxCatchAll xmlns="2da5a124-5fc9-4ad9-aba3-bf44ca5f387b" xsi:nil="true"/>
  </documentManagement>
</p:properties>
</file>

<file path=customXml/itemProps1.xml><?xml version="1.0" encoding="utf-8"?>
<ds:datastoreItem xmlns:ds="http://schemas.openxmlformats.org/officeDocument/2006/customXml" ds:itemID="{E5C4629F-CD2D-4B9D-8169-D5FEF695D500}"/>
</file>

<file path=customXml/itemProps2.xml><?xml version="1.0" encoding="utf-8"?>
<ds:datastoreItem xmlns:ds="http://schemas.openxmlformats.org/officeDocument/2006/customXml" ds:itemID="{881E30E1-78B4-4BC4-8BD8-6D13F471F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83BA68-38AF-49D5-88FA-9D86E4764277}">
  <ds:schemaRefs>
    <ds:schemaRef ds:uri="1eda3f66-9622-4b79-bc7d-b434536c4b10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b2995a1f-1323-4db8-878e-e4da3afbfa44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cc76ff6e-826f-4d00-82ef-35937f8efd9d}" enabled="0" method="" siteId="{cc76ff6e-826f-4d00-82ef-35937f8efd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7892</TotalTime>
  <Words>163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Arial</vt:lpstr>
      <vt:lpstr>Avenir Book</vt:lpstr>
      <vt:lpstr>Avenir Next LT Pro</vt:lpstr>
      <vt:lpstr>Calibri</vt:lpstr>
      <vt:lpstr>Calibri Light</vt:lpstr>
      <vt:lpstr>Century Gothic</vt:lpstr>
      <vt:lpstr>Myriad Pro</vt:lpstr>
      <vt:lpstr>Wingdings</vt:lpstr>
      <vt:lpstr>1_QP</vt:lpstr>
      <vt:lpstr>2_QatarEnergy PPT Theme 1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Process</dc:title>
  <dc:creator>Andras Turi</dc:creator>
  <cp:lastModifiedBy>Andras Turi</cp:lastModifiedBy>
  <cp:revision>27</cp:revision>
  <cp:lastPrinted>2022-11-22T09:38:44Z</cp:lastPrinted>
  <dcterms:created xsi:type="dcterms:W3CDTF">2022-02-03T10:45:37Z</dcterms:created>
  <dcterms:modified xsi:type="dcterms:W3CDTF">2026-06-22T10:49:52Z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daf50a-78ed-480b-a2a3-10cc196ad946_Enabled">
    <vt:lpwstr>true</vt:lpwstr>
  </property>
  <property fmtid="{D5CDD505-2E9C-101B-9397-08002B2CF9AE}" pid="3" name="MSIP_Label_2edaf50a-78ed-480b-a2a3-10cc196ad946_SetDate">
    <vt:lpwstr>2023-10-05T07:47:03Z</vt:lpwstr>
  </property>
  <property fmtid="{D5CDD505-2E9C-101B-9397-08002B2CF9AE}" pid="4" name="MSIP_Label_2edaf50a-78ed-480b-a2a3-10cc196ad946_Method">
    <vt:lpwstr>Privileged</vt:lpwstr>
  </property>
  <property fmtid="{D5CDD505-2E9C-101B-9397-08002B2CF9AE}" pid="5" name="MSIP_Label_2edaf50a-78ed-480b-a2a3-10cc196ad946_Name">
    <vt:lpwstr>C1 - CONTROLLED</vt:lpwstr>
  </property>
  <property fmtid="{D5CDD505-2E9C-101B-9397-08002B2CF9AE}" pid="6" name="MSIP_Label_2edaf50a-78ed-480b-a2a3-10cc196ad946_SiteId">
    <vt:lpwstr>22e9f6b1-8d64-4327-9344-7495608a7368</vt:lpwstr>
  </property>
  <property fmtid="{D5CDD505-2E9C-101B-9397-08002B2CF9AE}" pid="7" name="MSIP_Label_2edaf50a-78ed-480b-a2a3-10cc196ad946_ActionId">
    <vt:lpwstr>17e04e43-cff9-4086-b178-ab0c6d7c56f6</vt:lpwstr>
  </property>
  <property fmtid="{D5CDD505-2E9C-101B-9397-08002B2CF9AE}" pid="8" name="MSIP_Label_2edaf50a-78ed-480b-a2a3-10cc196ad946_ContentBits">
    <vt:lpwstr>1</vt:lpwstr>
  </property>
  <property fmtid="{D5CDD505-2E9C-101B-9397-08002B2CF9AE}" pid="9" name="ContentTypeId">
    <vt:lpwstr>0x010100D6DF7A57F0CBE144B8C0EF326EEA8DDC</vt:lpwstr>
  </property>
  <property fmtid="{D5CDD505-2E9C-101B-9397-08002B2CF9AE}" pid="10" name="MediaServiceImageTags">
    <vt:lpwstr/>
  </property>
  <property fmtid="{D5CDD505-2E9C-101B-9397-08002B2CF9AE}" pid="11" name="ComplianceAssetId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